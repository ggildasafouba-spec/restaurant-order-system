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8DEA2F7-6AA8-41E8-9EB4-A0EF862267A6}" v="1" dt="2026-03-27T14:38:51.8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56" y="1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56625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685800"/>
            <a:ext cx="1101852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  <a:effectLst>
            <a:outerShdw blurRad="19050" dist="127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94360" y="685800"/>
            <a:ext cx="256032" cy="4892040"/>
          </a:xfrm>
          <a:prstGeom prst="rect">
            <a:avLst/>
          </a:prstGeom>
          <a:solidFill>
            <a:srgbClr val="8A1538"/>
          </a:solidFill>
          <a:ln w="12700">
            <a:solidFill>
              <a:srgbClr val="8A15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188720"/>
            <a:ext cx="65836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Application de gestion de commandes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pour restaurant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78992" y="246888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1538"/>
                </a:solidFill>
              </a:rPr>
              <a:t>Support de présentation — préparation examen TP DWWM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78992" y="2880360"/>
            <a:ext cx="6675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</a:rPr>
              <a:t>Monorepo full-stack avec serveur Node.js, interfaces React par rôle et synchronisation temps réel via Socket.io.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78992" y="39319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</a:rPr>
              <a:t>Livrables préparés : code source, dossier de projet, support de soutenance.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321040" y="1325880"/>
            <a:ext cx="2651760" cy="548640"/>
          </a:xfrm>
          <a:prstGeom prst="roundRect">
            <a:avLst>
              <a:gd name="adj" fmla="val 13333"/>
            </a:avLst>
          </a:prstGeom>
          <a:solidFill>
            <a:srgbClr val="ECFDF5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32520" y="14813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6534"/>
                </a:solidFill>
              </a:rPr>
              <a:t>Temps réel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321040" y="2057400"/>
            <a:ext cx="2651760" cy="548640"/>
          </a:xfrm>
          <a:prstGeom prst="roundRect">
            <a:avLst>
              <a:gd name="adj" fmla="val 1333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32520" y="221284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2410C"/>
                </a:solidFill>
              </a:rPr>
              <a:t>4 interfaces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321040" y="2788920"/>
            <a:ext cx="265176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32520" y="294436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D4ED8"/>
                </a:solidFill>
              </a:rPr>
              <a:t>API centrale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789920" y="64739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</a:rPr>
              <a:t>Projet fil rouge — 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8A1538"/>
          </a:solidFill>
          <a:ln w="12700">
            <a:solidFill>
              <a:srgbClr val="8A15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7498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Contexte et besoin métier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</a:rPr>
              <a:t>Pourquoi ce projet répond à un usage concret en restauration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85800" y="1645920"/>
            <a:ext cx="5486400" cy="4023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</a:rPr>
              <a:t>Réduire les erreurs de transmission entre caisse, cuisine et service.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</a:rPr>
              <a:t>Donner une visibilité immédiate sur l’état de chaque commande.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</a:rPr>
              <a:t>Permettre au client de suivre l’avancement sans solliciter le personnel.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</a:rPr>
              <a:t>Standardiser le cycle de vie : nouvelle, en préparation, prête, servie.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517097" y="1904852"/>
            <a:ext cx="4800600" cy="3429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03720" y="1901952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A1538"/>
                </a:solidFill>
              </a:rPr>
              <a:t>Valeur métier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12280" y="233172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</a:rPr>
              <a:t>service plus fluide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</a:rPr>
              <a:t>moins d’oublis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</a:rPr>
              <a:t>communication simplifiée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</a:rPr>
              <a:t>expérience client améliorée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903720" y="457200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</a:rPr>
              <a:t>Le projet démontre une logique métier complète et observable pendant une soutenance.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789920" y="64739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</a:rPr>
              <a:t>Projet fil rouge — 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8A1538"/>
          </a:solidFill>
          <a:ln w="12700">
            <a:solidFill>
              <a:srgbClr val="8A15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7498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Acteurs et parcours global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</a:rPr>
              <a:t>Chaque rôle dispose de sa propre interface spécialisée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828800" cy="201168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24028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6534"/>
                </a:solidFill>
              </a:rPr>
              <a:t>Client / Caisse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788920"/>
            <a:ext cx="1554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</a:rPr>
              <a:t>Créer et payer la commande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063240" y="2011680"/>
            <a:ext cx="1828800" cy="2011680"/>
          </a:xfrm>
          <a:prstGeom prst="roundRect">
            <a:avLst>
              <a:gd name="adj" fmla="val 4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0" y="224028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91B1B"/>
                </a:solidFill>
              </a:rPr>
              <a:t>Cuisinier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200400" y="2788920"/>
            <a:ext cx="1554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</a:rPr>
              <a:t>Passer à en préparation puis prête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0" y="2011680"/>
            <a:ext cx="1828800" cy="2011680"/>
          </a:xfrm>
          <a:prstGeom prst="roundRect">
            <a:avLst>
              <a:gd name="adj" fmla="val 4000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23560" y="224028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2410C"/>
                </a:solidFill>
              </a:rPr>
              <a:t>Serveur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623560" y="2788920"/>
            <a:ext cx="1554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</a:rPr>
              <a:t>Voir les commandes prêtes et marquer servie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09560" y="2011680"/>
            <a:ext cx="1828800" cy="201168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0" y="224028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D4ED8"/>
                </a:solidFill>
              </a:rPr>
              <a:t>Suivi client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046720" y="2788920"/>
            <a:ext cx="1554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</a:rPr>
              <a:t>Consulter l’avancement en direct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14400" y="47548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6534"/>
                </a:solidFill>
              </a:rPr>
              <a:t>Commande validée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291840" y="47548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91B1B"/>
                </a:solidFill>
              </a:rPr>
              <a:t>En préparation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897880" y="47548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2410C"/>
                </a:solidFill>
              </a:rPr>
              <a:t>Prête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12480" y="47548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D4ED8"/>
                </a:solidFill>
              </a:rPr>
              <a:t>Servie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789920" y="64739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</a:rPr>
              <a:t>Projet fil rouge — 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8A1538"/>
          </a:solidFill>
          <a:ln w="12700">
            <a:solidFill>
              <a:srgbClr val="8A15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7498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technique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</a:rPr>
              <a:t>Un backend central pilote les données, les API et les événements temps réel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0" y="214884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A15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0" y="2395728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</a:rPr>
              <a:t>Serveur Node.js + Express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</a:rPr>
              <a:t>Socket.io + logique métier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256032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847088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A1538"/>
                </a:solidFill>
              </a:rPr>
              <a:t>Apps React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22402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</a:rPr>
              <a:t>Client / Caisse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</a:rPr>
              <a:t>Cuisinier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</a:rPr>
              <a:t>Serveur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</a:rPr>
              <a:t>Suivi client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412480" y="1600200"/>
            <a:ext cx="256032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0" y="1847088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A1538"/>
                </a:solidFill>
              </a:rPr>
              <a:t>Persistance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549640" y="22402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</a:rPr>
              <a:t>MongoDB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</a:rPr>
              <a:t>Mongoose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</a:rPr>
              <a:t>Menu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</a:rPr>
              <a:t>Commandes / Utilisateurs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212080" y="388620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</a:rPr>
              <a:t>Routes REST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</a:rPr>
              <a:t>/api/menu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</a:rPr>
              <a:t>/api/orders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926080" y="4983480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6534"/>
                </a:solidFill>
              </a:rPr>
              <a:t>Événements Socket.io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66534"/>
                </a:solidFill>
              </a:rPr>
              <a:t>order:new • order:update • order:ready • order:served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789920" y="64739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</a:rPr>
              <a:t>Projet fil rouge — 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8A1538"/>
          </a:solidFill>
          <a:ln w="12700">
            <a:solidFill>
              <a:srgbClr val="8A15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7498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Démonstration fonctionnelle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</a:rPr>
              <a:t>Exemple de scénario de bout en bout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777240" y="1600200"/>
            <a:ext cx="411480" cy="411480"/>
          </a:xfrm>
          <a:prstGeom prst="ellipse">
            <a:avLst/>
          </a:prstGeom>
          <a:solidFill>
            <a:srgbClr val="8A1538"/>
          </a:solidFill>
          <a:ln w="12700">
            <a:solidFill>
              <a:srgbClr val="8A15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691640"/>
            <a:ext cx="16459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63040" y="158191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</a:rPr>
              <a:t>Client / Caisse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0" y="1581912"/>
            <a:ext cx="6949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Choisit les plats et valide le paiement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77240" y="2514600"/>
            <a:ext cx="411480" cy="411480"/>
          </a:xfrm>
          <a:prstGeom prst="ellipse">
            <a:avLst/>
          </a:prstGeom>
          <a:solidFill>
            <a:srgbClr val="8A1538"/>
          </a:solidFill>
          <a:ln w="12700">
            <a:solidFill>
              <a:srgbClr val="8A15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606040"/>
            <a:ext cx="16459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463040" y="249631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</a:rPr>
              <a:t>Backend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57600" y="2496312"/>
            <a:ext cx="6949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Crée la commande et diffuse order:new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3429000"/>
            <a:ext cx="411480" cy="411480"/>
          </a:xfrm>
          <a:prstGeom prst="ellipse">
            <a:avLst/>
          </a:prstGeom>
          <a:solidFill>
            <a:srgbClr val="8A1538"/>
          </a:solidFill>
          <a:ln w="12700">
            <a:solidFill>
              <a:srgbClr val="8A15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3520440"/>
            <a:ext cx="16459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63040" y="341071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</a:rPr>
              <a:t>Cuisinier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657600" y="3410712"/>
            <a:ext cx="6949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Passe la commande à in_preparation puis ready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4343400"/>
            <a:ext cx="411480" cy="411480"/>
          </a:xfrm>
          <a:prstGeom prst="ellipse">
            <a:avLst/>
          </a:prstGeom>
          <a:solidFill>
            <a:srgbClr val="8A1538"/>
          </a:solidFill>
          <a:ln w="12700">
            <a:solidFill>
              <a:srgbClr val="8A15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4434840"/>
            <a:ext cx="16459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63040" y="432511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</a:rPr>
              <a:t>Serveur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657600" y="4325112"/>
            <a:ext cx="6949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Reçoit ready et marque la commande served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77240" y="5257800"/>
            <a:ext cx="411480" cy="411480"/>
          </a:xfrm>
          <a:prstGeom prst="ellipse">
            <a:avLst/>
          </a:prstGeom>
          <a:solidFill>
            <a:srgbClr val="8A1538"/>
          </a:solidFill>
          <a:ln w="12700">
            <a:solidFill>
              <a:srgbClr val="8A153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" y="5349240"/>
            <a:ext cx="16459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63040" y="523951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</a:rPr>
              <a:t>Client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657600" y="5239512"/>
            <a:ext cx="6949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Observe la progression en direct jusqu’à la remise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789920" y="64739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</a:rPr>
              <a:t>Projet fil rouge — 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8A1538"/>
          </a:solidFill>
          <a:ln w="12700">
            <a:solidFill>
              <a:srgbClr val="8A15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7498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Compétences TP DWWM mobilisées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</a:rPr>
              <a:t>Le projet permet de montrer des compétences front-end et back-end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5303520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72200" y="1645920"/>
            <a:ext cx="5303520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202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6534"/>
                </a:solidFill>
              </a:rPr>
              <a:t>Front-end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2331720"/>
            <a:ext cx="44805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</a:rPr>
              <a:t>maquetter plusieurs écrans métier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</a:rPr>
              <a:t>réaliser des interfaces lisibles et responsives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</a:rPr>
              <a:t>gérer l’état, les formulaires et l’actualisation temps réel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46520" y="19202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A1538"/>
                </a:solidFill>
              </a:rPr>
              <a:t>Back-end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355080" y="2331720"/>
            <a:ext cx="44805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</a:rPr>
              <a:t>structurer les données menu, commandes et utilisateurs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</a:rPr>
              <a:t>développer des routes API et des contrôleurs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</a:rPr>
              <a:t>porter une logique métier centralisée et réutilisable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789920" y="64739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</a:rPr>
              <a:t>Projet fil rouge — 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8A1538"/>
          </a:solidFill>
          <a:ln w="12700">
            <a:solidFill>
              <a:srgbClr val="8A15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7498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Livrables préparés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</a:rPr>
              <a:t>Éléments prêts à être remis et adaptés à la soutenance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822960" y="164592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965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A1538"/>
                </a:solidFill>
              </a:rPr>
              <a:t>Code source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926080" y="196596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Monorepo backend + 4 applications React + modules partagés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05840" y="2404872"/>
            <a:ext cx="9966960" cy="0"/>
          </a:xfrm>
          <a:prstGeom prst="line">
            <a:avLst/>
          </a:prstGeom>
          <a:noFill/>
          <a:ln w="12700">
            <a:solidFill>
              <a:srgbClr val="D8E1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83464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A1538"/>
                </a:solidFill>
              </a:rPr>
              <a:t>Dossier projet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926080" y="283464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Version rédigée à partir du cahier des charges et des compétences TP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05840" y="3273552"/>
            <a:ext cx="9966960" cy="0"/>
          </a:xfrm>
          <a:prstGeom prst="line">
            <a:avLst/>
          </a:prstGeom>
          <a:noFill/>
          <a:ln w="12700">
            <a:solidFill>
              <a:srgbClr val="D8E1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7033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A1538"/>
                </a:solidFill>
              </a:rPr>
              <a:t>Support oral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926080" y="370332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Diaporama synthétique, aéré et cohérent avec le dossier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05840" y="4142232"/>
            <a:ext cx="9966960" cy="0"/>
          </a:xfrm>
          <a:prstGeom prst="line">
            <a:avLst/>
          </a:prstGeom>
          <a:noFill/>
          <a:ln w="12700">
            <a:solidFill>
              <a:srgbClr val="D8E1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457200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A1538"/>
                </a:solidFill>
              </a:rPr>
              <a:t>GitHub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926080" y="457200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À publier en dépôt public avant dépôt du lien sur la plateforme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789920" y="64739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</a:rPr>
              <a:t>Projet fil rouge — 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8A1538"/>
          </a:solidFill>
          <a:ln w="12700">
            <a:solidFill>
              <a:srgbClr val="8A15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7498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 et perspectives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</a:rPr>
              <a:t>Ce que montre le projet et ce qui peut être ajouté ensuite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77240" y="1737360"/>
            <a:ext cx="667512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</a:rPr>
              <a:t>Le projet couvre un flux complet de prise de commande jusqu’au service.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</a:rPr>
              <a:t>La démonstration valorise la coordination entre plusieurs interfaces métier.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</a:rPr>
              <a:t>Le temps réel rend la soutenance visuelle et facile à comprendre.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</a:rPr>
              <a:t>Des extensions possibles : authentification, tableau de bord admin, impression ticket, déploiement cloud.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955280" y="1828800"/>
            <a:ext cx="3017520" cy="2286000"/>
          </a:xfrm>
          <a:prstGeom prst="roundRect">
            <a:avLst>
              <a:gd name="adj" fmla="val 3200"/>
            </a:avLst>
          </a:prstGeom>
          <a:solidFill>
            <a:srgbClr val="ECFDF5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0" y="214884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6534"/>
                </a:solidFill>
              </a:rPr>
              <a:t>Message final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0" y="265176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F2937"/>
                </a:solidFill>
              </a:rPr>
              <a:t>Une architecture claire, un parcours métier démontrable et des compétences TP DWWM visibles.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789920" y="64739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</a:rPr>
              <a:t>Projet fil rouge — 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Capture 1 - Commande client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Une commande est passée par le client et envoyée directement en cuisine.</a:t>
            </a:r>
          </a:p>
        </p:txBody>
      </p:sp>
      <p:pic>
        <p:nvPicPr>
          <p:cNvPr id="4" name="Picture 3" descr="2026-03-27T11-57-26.436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43200"/>
            <a:ext cx="5486400" cy="365670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Capture 2 - Réception cuisine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La cuisine reçoit bien la commande envoyée par le client.</a:t>
            </a:r>
          </a:p>
        </p:txBody>
      </p:sp>
      <p:pic>
        <p:nvPicPr>
          <p:cNvPr id="4" name="Picture 3" descr="2026-03-27T12-04-00.025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43200"/>
            <a:ext cx="5486400" cy="365670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Capture 3 - Commande en préparation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Une fois prise en compte en cuisine, la commande passe en mode 'en préparation' côté client.</a:t>
            </a:r>
          </a:p>
        </p:txBody>
      </p:sp>
      <p:pic>
        <p:nvPicPr>
          <p:cNvPr id="4" name="Picture 3" descr="2026-03-27T12-06-05.453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43200"/>
            <a:ext cx="5486400" cy="365670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Capture 4 - Commande prête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Lorsque la commande est prête en cuisine et validée, elle passe en mode 'prête' sur l’interface client.</a:t>
            </a:r>
          </a:p>
        </p:txBody>
      </p:sp>
      <p:pic>
        <p:nvPicPr>
          <p:cNvPr id="4" name="Picture 3" descr="2026-03-27T12-09-28.695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43200"/>
            <a:ext cx="5486400" cy="365670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Capture 5 - Commande servie côté serveur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Une fois la commande marquée comme 'servie' sur l’interface serveur, l’information est envoyée en temps réel vers l’interface client.</a:t>
            </a:r>
          </a:p>
        </p:txBody>
      </p:sp>
      <p:pic>
        <p:nvPicPr>
          <p:cNvPr id="4" name="Picture 3" descr="2026-03-27T12-24-48.013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43200"/>
            <a:ext cx="5486400" cy="365670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Capture 6 - Synchronisation finale côté client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La commande apparaît alors comme 'servie' côté client. On constate que toutes les étapes du cycle de vie ont été exécutées avec succès : validation, préparation, prête puis servie.</a:t>
            </a:r>
          </a:p>
        </p:txBody>
      </p:sp>
      <p:pic>
        <p:nvPicPr>
          <p:cNvPr id="4" name="Picture 3" descr="2026-03-27T12-28-22.532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43200"/>
            <a:ext cx="5486400" cy="365670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701</Words>
  <Application>Microsoft Office PowerPoint</Application>
  <PresentationFormat>Grand écran</PresentationFormat>
  <Paragraphs>126</Paragraphs>
  <Slides>14</Slides>
  <Notes>8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5" baseType="lpstr"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Application de gestion de commandes pour restaurant</dc:title>
  <dc:subject>Support de présentation TP DWWM</dc:subject>
  <dc:creator>OpenAI</dc:creator>
  <cp:lastModifiedBy>Germain Gildas Afouba</cp:lastModifiedBy>
  <cp:revision>3</cp:revision>
  <dcterms:created xsi:type="dcterms:W3CDTF">2026-03-26T10:33:10Z</dcterms:created>
  <dcterms:modified xsi:type="dcterms:W3CDTF">2026-03-27T14:40:06Z</dcterms:modified>
</cp:coreProperties>
</file>